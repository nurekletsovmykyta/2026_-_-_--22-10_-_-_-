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29918A-82F9-423F-917A-3F58FED825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Програмна</a:t>
            </a:r>
            <a:r>
              <a:rPr lang="ru-RU" dirty="0"/>
              <a:t> платформа для </a:t>
            </a:r>
            <a:r>
              <a:rPr lang="ru-RU" dirty="0" err="1"/>
              <a:t>підтримки</a:t>
            </a:r>
            <a:r>
              <a:rPr lang="ru-RU" dirty="0"/>
              <a:t> </a:t>
            </a:r>
            <a:r>
              <a:rPr lang="ru-RU" dirty="0" err="1"/>
              <a:t>діяльності</a:t>
            </a:r>
            <a:r>
              <a:rPr lang="ru-RU" dirty="0"/>
              <a:t> </a:t>
            </a:r>
            <a:r>
              <a:rPr lang="ru-RU" dirty="0" err="1"/>
              <a:t>приватної</a:t>
            </a:r>
            <a:r>
              <a:rPr lang="ru-RU" dirty="0"/>
              <a:t> </a:t>
            </a:r>
            <a:r>
              <a:rPr lang="ru-RU" dirty="0" err="1"/>
              <a:t>електронної</a:t>
            </a:r>
            <a:r>
              <a:rPr lang="ru-RU" dirty="0"/>
              <a:t> </a:t>
            </a:r>
            <a:r>
              <a:rPr lang="ru-RU" dirty="0" err="1"/>
              <a:t>комерції</a:t>
            </a:r>
            <a:endParaRPr lang="uk-UA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C15ECEC-384F-417C-9904-3BC80848E985}"/>
              </a:ext>
            </a:extLst>
          </p:cNvPr>
          <p:cNvSpPr txBox="1">
            <a:spLocks/>
          </p:cNvSpPr>
          <p:nvPr/>
        </p:nvSpPr>
        <p:spPr>
          <a:xfrm>
            <a:off x="1" y="-1"/>
            <a:ext cx="12191999" cy="138491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ts val="5400"/>
              </a:lnSpc>
              <a:spcBef>
                <a:spcPct val="0"/>
              </a:spcBef>
              <a:buNone/>
              <a:defRPr sz="5400" b="1" i="0" kern="1200" cap="all" spc="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sz="28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Міністерство освіти і науки України</a:t>
            </a:r>
          </a:p>
          <a:p>
            <a:pPr algn="ctr"/>
            <a:r>
              <a:rPr lang="uk-UA" sz="28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Харківський національний університет радіоелектроніки</a:t>
            </a:r>
            <a:endParaRPr lang="en-US" sz="2800" cap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A23B2E6-C057-4519-BB66-70F14805C37C}"/>
              </a:ext>
            </a:extLst>
          </p:cNvPr>
          <p:cNvSpPr txBox="1">
            <a:spLocks/>
          </p:cNvSpPr>
          <p:nvPr/>
        </p:nvSpPr>
        <p:spPr bwMode="blackWhite">
          <a:xfrm>
            <a:off x="1600199" y="1564991"/>
            <a:ext cx="8991601" cy="641678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3200" b="1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Кваліфікаційна робота бакалавра</a:t>
            </a:r>
            <a:endParaRPr lang="en-US" sz="3200" b="1" cap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DD4416-DB97-436F-8901-A2AFA24454D2}"/>
              </a:ext>
            </a:extLst>
          </p:cNvPr>
          <p:cNvSpPr txBox="1"/>
          <p:nvPr/>
        </p:nvSpPr>
        <p:spPr>
          <a:xfrm>
            <a:off x="1067251" y="4944504"/>
            <a:ext cx="3255885" cy="1695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uk-UA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Виконав: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uk-UA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ст. гр. ПЗПІ-22-10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uk-UA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Микита КЛЕЦОВ</a:t>
            </a: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502B76-1AC6-4F3C-8D26-08589159804E}"/>
              </a:ext>
            </a:extLst>
          </p:cNvPr>
          <p:cNvSpPr txBox="1"/>
          <p:nvPr/>
        </p:nvSpPr>
        <p:spPr>
          <a:xfrm>
            <a:off x="8400114" y="4944503"/>
            <a:ext cx="3255885" cy="1695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uk-UA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Керівник: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uk-UA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ст.викл</a:t>
            </a:r>
            <a:r>
              <a:rPr lang="uk-UA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. кафедри ПІ</a:t>
            </a:r>
            <a:br>
              <a:rPr lang="uk-UA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uk-UA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Ірина АГЕКЯН</a:t>
            </a: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C3DF80-3A9F-47B3-BF48-8595ACE53176}"/>
              </a:ext>
            </a:extLst>
          </p:cNvPr>
          <p:cNvSpPr txBox="1"/>
          <p:nvPr/>
        </p:nvSpPr>
        <p:spPr>
          <a:xfrm>
            <a:off x="5558395" y="6270572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800" cap="all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Харків, 2026 </a:t>
            </a:r>
            <a:r>
              <a:rPr lang="uk-U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634338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041F4D-3D66-43C6-82EF-1F1B60CEE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48676"/>
            <a:ext cx="7729728" cy="1188720"/>
          </a:xfrm>
        </p:spPr>
        <p:txBody>
          <a:bodyPr/>
          <a:lstStyle/>
          <a:p>
            <a:r>
              <a:rPr lang="uk-UA" dirty="0"/>
              <a:t>Мета роботи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6829B9-37C2-4095-A08A-50431A4F9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165685"/>
            <a:ext cx="10886173" cy="453349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uk-UA" sz="2400" dirty="0"/>
              <a:t>Програмна реалізація платформи для підтримки діяльності суб’єктів приватної електронної комерції, що забезпечує автоматизацію циклу продажів та оптимізацію обліку товарів</a:t>
            </a:r>
          </a:p>
          <a:p>
            <a:pPr marL="0" indent="0">
              <a:buNone/>
            </a:pPr>
            <a:r>
              <a:rPr lang="uk-UA" sz="2400" b="1" dirty="0"/>
              <a:t>Методи рішення: </a:t>
            </a:r>
          </a:p>
          <a:p>
            <a:r>
              <a:rPr lang="uk-UA" sz="2400" dirty="0"/>
              <a:t>алгоритми та інструментальні засоби створення програмної платформи, що призначена для автоматизації та підтримки діяльності приватного онлайн-бізнесу;</a:t>
            </a:r>
          </a:p>
          <a:p>
            <a:r>
              <a:rPr lang="uk-UA" sz="2400" dirty="0"/>
              <a:t>використання системного аналізу для структурування бізнес-процесів комерції;</a:t>
            </a:r>
          </a:p>
          <a:p>
            <a:r>
              <a:rPr lang="uk-UA" sz="2400" dirty="0"/>
              <a:t>об’єктно-орієнтованого програмування для розробки компонентів системи;</a:t>
            </a:r>
          </a:p>
          <a:p>
            <a:r>
              <a:rPr lang="uk-UA" sz="2400" dirty="0"/>
              <a:t>методи моделювання баз даних для організації ефективного зберігання інформації.</a:t>
            </a:r>
          </a:p>
        </p:txBody>
      </p:sp>
    </p:spTree>
    <p:extLst>
      <p:ext uri="{BB962C8B-B14F-4D97-AF65-F5344CB8AC3E}">
        <p14:creationId xmlns:p14="http://schemas.microsoft.com/office/powerpoint/2010/main" val="1690037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59895A-BC38-4697-ACCF-2A28FBBC0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34237"/>
            <a:ext cx="7729728" cy="1188720"/>
          </a:xfrm>
        </p:spPr>
        <p:txBody>
          <a:bodyPr/>
          <a:lstStyle/>
          <a:p>
            <a:r>
              <a:rPr lang="uk-UA" dirty="0"/>
              <a:t>Актуальність проблеми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123B07-2789-4184-89B5-D0DE18519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015" y="2638044"/>
            <a:ext cx="11223057" cy="3897510"/>
          </a:xfrm>
        </p:spPr>
        <p:txBody>
          <a:bodyPr>
            <a:normAutofit fontScale="92500"/>
          </a:bodyPr>
          <a:lstStyle/>
          <a:p>
            <a:r>
              <a:rPr lang="uk-UA" sz="2400" dirty="0"/>
              <a:t>Поширення мережевих технологій</a:t>
            </a:r>
          </a:p>
          <a:p>
            <a:r>
              <a:rPr lang="ru-RU" sz="2400" dirty="0" err="1"/>
              <a:t>Гнучкість</a:t>
            </a:r>
            <a:r>
              <a:rPr lang="ru-RU" sz="2400" dirty="0"/>
              <a:t>, </a:t>
            </a:r>
            <a:r>
              <a:rPr lang="ru-RU" sz="2400" dirty="0" err="1"/>
              <a:t>швидкість</a:t>
            </a:r>
            <a:r>
              <a:rPr lang="ru-RU" sz="2400" dirty="0"/>
              <a:t> </a:t>
            </a:r>
            <a:r>
              <a:rPr lang="ru-RU" sz="2400" dirty="0" err="1"/>
              <a:t>реагування</a:t>
            </a:r>
            <a:r>
              <a:rPr lang="ru-RU" sz="2400" dirty="0"/>
              <a:t> на </a:t>
            </a:r>
            <a:r>
              <a:rPr lang="ru-RU" sz="2400" dirty="0" err="1"/>
              <a:t>запити</a:t>
            </a:r>
            <a:r>
              <a:rPr lang="ru-RU" sz="2400" dirty="0"/>
              <a:t> та </a:t>
            </a:r>
            <a:r>
              <a:rPr lang="ru-RU" sz="2400" dirty="0" err="1"/>
              <a:t>персоналізація</a:t>
            </a:r>
            <a:r>
              <a:rPr lang="ru-RU" sz="2400" dirty="0"/>
              <a:t> </a:t>
            </a:r>
            <a:r>
              <a:rPr lang="ru-RU" sz="2400" dirty="0" err="1"/>
              <a:t>сервісів</a:t>
            </a:r>
            <a:endParaRPr lang="ru-RU" sz="2400" dirty="0"/>
          </a:p>
          <a:p>
            <a:r>
              <a:rPr lang="ru-RU" sz="2400" dirty="0" err="1"/>
              <a:t>Руйнування</a:t>
            </a:r>
            <a:r>
              <a:rPr lang="ru-RU" sz="2400" dirty="0"/>
              <a:t> </a:t>
            </a:r>
            <a:r>
              <a:rPr lang="ru-RU" sz="2400" dirty="0" err="1"/>
              <a:t>інфраструктури</a:t>
            </a:r>
            <a:r>
              <a:rPr lang="ru-RU" sz="2400" dirty="0"/>
              <a:t> та </a:t>
            </a:r>
            <a:r>
              <a:rPr lang="ru-RU" sz="2400" dirty="0" err="1"/>
              <a:t>логістичні</a:t>
            </a:r>
            <a:r>
              <a:rPr lang="ru-RU" sz="2400" dirty="0"/>
              <a:t> </a:t>
            </a:r>
            <a:r>
              <a:rPr lang="ru-RU" sz="2400" dirty="0" err="1"/>
              <a:t>розриви</a:t>
            </a:r>
            <a:endParaRPr lang="ru-RU" sz="2400" dirty="0"/>
          </a:p>
          <a:p>
            <a:endParaRPr lang="ru-RU" dirty="0"/>
          </a:p>
          <a:p>
            <a:pPr marL="0" indent="0">
              <a:buNone/>
            </a:pPr>
            <a:r>
              <a:rPr lang="uk-UA" sz="2400" dirty="0"/>
              <a:t>Готові універсальні рішення досить часто є занадто складними або дорогими, а їх адаптація під специфічні потреби приватного підприємця потребує значних ресурсів</a:t>
            </a:r>
          </a:p>
          <a:p>
            <a:pPr marL="0" indent="0">
              <a:buNone/>
            </a:pPr>
            <a:r>
              <a:rPr lang="uk-UA" sz="2400" b="1" dirty="0"/>
              <a:t>Актуальність теми </a:t>
            </a:r>
            <a:r>
              <a:rPr lang="uk-UA" sz="2400" dirty="0"/>
              <a:t>зумовлена необхідністю пошуку оптимальних архітектурних рішень, які б дозволили програмній платформі бути масштабованою та надійною, забезпечуючи при цьому високу швидкість обробки великих масивів інформації. </a:t>
            </a:r>
          </a:p>
        </p:txBody>
      </p:sp>
    </p:spTree>
    <p:extLst>
      <p:ext uri="{BB962C8B-B14F-4D97-AF65-F5344CB8AC3E}">
        <p14:creationId xmlns:p14="http://schemas.microsoft.com/office/powerpoint/2010/main" val="636984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2CA40-1F61-4239-81F7-83BF9ABB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41697"/>
            <a:ext cx="7729728" cy="1188720"/>
          </a:xfrm>
        </p:spPr>
        <p:txBody>
          <a:bodyPr/>
          <a:lstStyle/>
          <a:p>
            <a:r>
              <a:rPr lang="uk-UA" dirty="0"/>
              <a:t>Огляд існуючих рішень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2A83F-A5C1-4EAE-A3A0-3E45EB297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015" y="2638044"/>
            <a:ext cx="11232682" cy="38782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400" b="1" dirty="0"/>
              <a:t>Предметна галузь </a:t>
            </a:r>
            <a:r>
              <a:rPr lang="uk-UA" sz="2400" dirty="0"/>
              <a:t>приватної електронної комерції (</a:t>
            </a:r>
            <a:r>
              <a:rPr lang="en-US" sz="2400" dirty="0"/>
              <a:t>e-commerce) </a:t>
            </a:r>
            <a:r>
              <a:rPr lang="uk-UA" sz="2400" dirty="0"/>
              <a:t>охоплює сукупність бізнес-процесів, пов’язаних із реалізацією товарів або послуг кінцевим споживачам через інтернет</a:t>
            </a:r>
          </a:p>
          <a:p>
            <a:pPr marL="0" indent="0">
              <a:buNone/>
            </a:pPr>
            <a:r>
              <a:rPr lang="uk-UA" sz="2400" b="1" dirty="0"/>
              <a:t>Переваги </a:t>
            </a:r>
            <a:r>
              <a:rPr lang="en-US" sz="2400" b="1" dirty="0"/>
              <a:t>e-commerce</a:t>
            </a:r>
            <a:r>
              <a:rPr lang="uk-UA" sz="2400" dirty="0"/>
              <a:t>:</a:t>
            </a:r>
          </a:p>
          <a:p>
            <a:pPr>
              <a:buFontTx/>
              <a:buChar char="-"/>
            </a:pPr>
            <a:r>
              <a:rPr lang="ru-RU" sz="2400" dirty="0" err="1"/>
              <a:t>зниження</a:t>
            </a:r>
            <a:r>
              <a:rPr lang="ru-RU" sz="2400" dirty="0"/>
              <a:t> </a:t>
            </a:r>
            <a:r>
              <a:rPr lang="ru-RU" sz="2400" dirty="0" err="1"/>
              <a:t>бар’єру</a:t>
            </a:r>
            <a:r>
              <a:rPr lang="ru-RU" sz="2400" dirty="0"/>
              <a:t> входу та </a:t>
            </a:r>
            <a:r>
              <a:rPr lang="ru-RU" sz="2400" dirty="0" err="1"/>
              <a:t>операційних</a:t>
            </a:r>
            <a:r>
              <a:rPr lang="ru-RU" sz="2400" dirty="0"/>
              <a:t> </a:t>
            </a:r>
            <a:r>
              <a:rPr lang="ru-RU" sz="2400" dirty="0" err="1"/>
              <a:t>витрат</a:t>
            </a:r>
            <a:r>
              <a:rPr lang="ru-RU" sz="2400" dirty="0"/>
              <a:t>;</a:t>
            </a:r>
          </a:p>
          <a:p>
            <a:pPr>
              <a:buFontTx/>
              <a:buChar char="-"/>
            </a:pPr>
            <a:r>
              <a:rPr lang="uk-UA" sz="2400" dirty="0"/>
              <a:t>подолання географічних обмежень;</a:t>
            </a:r>
          </a:p>
          <a:p>
            <a:pPr>
              <a:buFontTx/>
              <a:buChar char="-"/>
            </a:pPr>
            <a:r>
              <a:rPr lang="uk-UA" sz="2400" dirty="0"/>
              <a:t>режим роботи 24/7/365;</a:t>
            </a:r>
          </a:p>
          <a:p>
            <a:pPr>
              <a:buFontTx/>
              <a:buChar char="-"/>
            </a:pPr>
            <a:r>
              <a:rPr lang="uk-UA" sz="2400" dirty="0"/>
              <a:t>гнучкість та адаптивність вітрини.</a:t>
            </a:r>
          </a:p>
        </p:txBody>
      </p:sp>
    </p:spTree>
    <p:extLst>
      <p:ext uri="{BB962C8B-B14F-4D97-AF65-F5344CB8AC3E}">
        <p14:creationId xmlns:p14="http://schemas.microsoft.com/office/powerpoint/2010/main" val="879959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2CA40-1F61-4239-81F7-83BF9ABB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41697"/>
            <a:ext cx="7729728" cy="1188720"/>
          </a:xfrm>
        </p:spPr>
        <p:txBody>
          <a:bodyPr/>
          <a:lstStyle/>
          <a:p>
            <a:r>
              <a:rPr lang="uk-UA" dirty="0"/>
              <a:t>Огляд існуючих рішень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03F6092-E473-4A6D-89CD-5CFB9CEEFB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0406"/>
          <a:stretch/>
        </p:blipFill>
        <p:spPr>
          <a:xfrm>
            <a:off x="4795060" y="2400922"/>
            <a:ext cx="7175538" cy="41153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AD14F9-F383-486B-8CFD-A4A733C5D0BF}"/>
              </a:ext>
            </a:extLst>
          </p:cNvPr>
          <p:cNvSpPr txBox="1"/>
          <p:nvPr/>
        </p:nvSpPr>
        <p:spPr>
          <a:xfrm>
            <a:off x="324853" y="2486344"/>
            <a:ext cx="440115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1" dirty="0">
                <a:solidFill>
                  <a:srgbClr val="00B0F0"/>
                </a:solidFill>
              </a:rPr>
              <a:t>ПЕРЕВАГИ:</a:t>
            </a:r>
          </a:p>
          <a:p>
            <a:pPr marL="285750" indent="-285750">
              <a:buFontTx/>
              <a:buChar char="-"/>
            </a:pPr>
            <a:r>
              <a:rPr lang="uk-UA" sz="2400" dirty="0"/>
              <a:t>інтеграція з українськими сервісами;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SEO</a:t>
            </a:r>
            <a:r>
              <a:rPr lang="uk-UA" sz="2400" dirty="0"/>
              <a:t>-оптимізація;</a:t>
            </a:r>
          </a:p>
          <a:p>
            <a:pPr marL="285750" indent="-285750">
              <a:buFontTx/>
              <a:buChar char="-"/>
            </a:pPr>
            <a:r>
              <a:rPr lang="uk-UA" sz="2400" dirty="0"/>
              <a:t>україномовна підтримка</a:t>
            </a:r>
          </a:p>
          <a:p>
            <a:endParaRPr lang="uk-UA" sz="2400" dirty="0"/>
          </a:p>
          <a:p>
            <a:r>
              <a:rPr lang="uk-UA" sz="2400" b="1" dirty="0">
                <a:solidFill>
                  <a:srgbClr val="C00000"/>
                </a:solidFill>
              </a:rPr>
              <a:t>НЕДОЛІКИ:</a:t>
            </a:r>
          </a:p>
          <a:p>
            <a:pPr marL="285750" indent="-285750">
              <a:buFontTx/>
              <a:buChar char="-"/>
            </a:pPr>
            <a:r>
              <a:rPr lang="uk-UA" sz="2400" dirty="0"/>
              <a:t>стартовий платіж;</a:t>
            </a:r>
          </a:p>
          <a:p>
            <a:pPr marL="285750" indent="-285750">
              <a:buFontTx/>
              <a:buChar char="-"/>
            </a:pPr>
            <a:r>
              <a:rPr lang="uk-UA" sz="2400" dirty="0"/>
              <a:t>обмеження </a:t>
            </a:r>
            <a:r>
              <a:rPr lang="uk-UA" sz="2400" dirty="0" err="1"/>
              <a:t>кастомізації</a:t>
            </a:r>
            <a:r>
              <a:rPr lang="uk-UA" sz="2400" dirty="0"/>
              <a:t>;</a:t>
            </a:r>
          </a:p>
          <a:p>
            <a:pPr marL="285750" indent="-285750">
              <a:buFontTx/>
              <a:buChar char="-"/>
            </a:pPr>
            <a:r>
              <a:rPr lang="uk-UA" sz="2400" dirty="0"/>
              <a:t>відсутність експорту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22597F-13A8-4F9F-9F56-D859B2C6C9BC}"/>
              </a:ext>
            </a:extLst>
          </p:cNvPr>
          <p:cNvSpPr txBox="1"/>
          <p:nvPr/>
        </p:nvSpPr>
        <p:spPr>
          <a:xfrm>
            <a:off x="3289433" y="1738293"/>
            <a:ext cx="60976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ХОРОШОП (https://horoshop.ua/ua/)</a:t>
            </a:r>
            <a:endParaRPr lang="uk-UA" sz="2800" b="1" dirty="0"/>
          </a:p>
        </p:txBody>
      </p:sp>
    </p:spTree>
    <p:extLst>
      <p:ext uri="{BB962C8B-B14F-4D97-AF65-F5344CB8AC3E}">
        <p14:creationId xmlns:p14="http://schemas.microsoft.com/office/powerpoint/2010/main" val="2651583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2CA40-1F61-4239-81F7-83BF9ABB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41697"/>
            <a:ext cx="7729728" cy="1188720"/>
          </a:xfrm>
        </p:spPr>
        <p:txBody>
          <a:bodyPr/>
          <a:lstStyle/>
          <a:p>
            <a:r>
              <a:rPr lang="uk-UA" dirty="0"/>
              <a:t>Огляд існуючих рішень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AD14F9-F383-486B-8CFD-A4A733C5D0BF}"/>
              </a:ext>
            </a:extLst>
          </p:cNvPr>
          <p:cNvSpPr txBox="1"/>
          <p:nvPr/>
        </p:nvSpPr>
        <p:spPr>
          <a:xfrm>
            <a:off x="102213" y="2187026"/>
            <a:ext cx="645259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Найбільший український </a:t>
            </a:r>
            <a:r>
              <a:rPr lang="uk-UA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маркетплейс</a:t>
            </a:r>
            <a:endParaRPr lang="uk-UA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uk-UA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uk-UA" sz="3200" b="1" dirty="0">
              <a:solidFill>
                <a:srgbClr val="00B0F0"/>
              </a:solidFill>
            </a:endParaRPr>
          </a:p>
          <a:p>
            <a:r>
              <a:rPr lang="uk-UA" sz="2400" b="1" dirty="0">
                <a:solidFill>
                  <a:srgbClr val="00B0F0"/>
                </a:solidFill>
              </a:rPr>
              <a:t>ПЕРЕВАГИ:</a:t>
            </a:r>
          </a:p>
          <a:p>
            <a:pPr marL="285750" indent="-285750">
              <a:buFontTx/>
              <a:buChar char="-"/>
            </a:pPr>
            <a:r>
              <a:rPr lang="uk-UA" sz="2400" dirty="0"/>
              <a:t>швидкий старт;</a:t>
            </a:r>
          </a:p>
          <a:p>
            <a:pPr marL="285750" indent="-285750">
              <a:buFontTx/>
              <a:buChar char="-"/>
            </a:pPr>
            <a:r>
              <a:rPr lang="ru-RU" sz="2400" dirty="0"/>
              <a:t>контроль над контентом</a:t>
            </a:r>
            <a:r>
              <a:rPr lang="uk-UA" sz="2400" dirty="0"/>
              <a:t>;</a:t>
            </a:r>
          </a:p>
          <a:p>
            <a:pPr marL="285750" indent="-285750">
              <a:buFontTx/>
              <a:buChar char="-"/>
            </a:pPr>
            <a:r>
              <a:rPr lang="uk-UA" sz="2400" dirty="0"/>
              <a:t>готові інтеграції зі службами доставки;</a:t>
            </a:r>
          </a:p>
          <a:p>
            <a:pPr marL="285750" indent="-285750">
              <a:buFontTx/>
              <a:buChar char="-"/>
            </a:pPr>
            <a:r>
              <a:rPr lang="uk-UA" sz="2400" dirty="0"/>
              <a:t>відсутні витрати на хостинг</a:t>
            </a:r>
          </a:p>
          <a:p>
            <a:r>
              <a:rPr lang="uk-UA" sz="2400" b="1" dirty="0">
                <a:solidFill>
                  <a:srgbClr val="C00000"/>
                </a:solidFill>
              </a:rPr>
              <a:t>НЕДОЛІКИ:</a:t>
            </a:r>
          </a:p>
          <a:p>
            <a:pPr marL="285750" indent="-285750">
              <a:buFontTx/>
              <a:buChar char="-"/>
            </a:pPr>
            <a:r>
              <a:rPr lang="ru-RU" sz="2400" dirty="0" err="1"/>
              <a:t>висока</a:t>
            </a:r>
            <a:r>
              <a:rPr lang="ru-RU" sz="2400" dirty="0"/>
              <a:t> </a:t>
            </a:r>
            <a:r>
              <a:rPr lang="ru-RU" sz="2400" dirty="0" err="1"/>
              <a:t>конкуренція</a:t>
            </a:r>
            <a:r>
              <a:rPr lang="uk-UA" sz="2400" dirty="0"/>
              <a:t>;</a:t>
            </a:r>
          </a:p>
          <a:p>
            <a:pPr marL="285750" indent="-285750">
              <a:buFontTx/>
              <a:buChar char="-"/>
            </a:pPr>
            <a:r>
              <a:rPr lang="ru-RU" sz="2400" dirty="0"/>
              <a:t>сайт вам не </a:t>
            </a:r>
            <a:r>
              <a:rPr lang="ru-RU" sz="2400" dirty="0" err="1"/>
              <a:t>належить</a:t>
            </a:r>
            <a:r>
              <a:rPr lang="ru-RU" sz="2400" dirty="0"/>
              <a:t>;</a:t>
            </a:r>
          </a:p>
          <a:p>
            <a:pPr marL="285750" indent="-285750">
              <a:buFontTx/>
              <a:buChar char="-"/>
            </a:pPr>
            <a:r>
              <a:rPr lang="uk-UA" sz="2400" dirty="0"/>
              <a:t>жорстка тарифна політика;</a:t>
            </a:r>
          </a:p>
          <a:p>
            <a:pPr marL="285750" indent="-285750">
              <a:buFontTx/>
              <a:buChar char="-"/>
            </a:pPr>
            <a:r>
              <a:rPr lang="uk-UA" sz="2400" dirty="0"/>
              <a:t>шаблонний дизайн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22597F-13A8-4F9F-9F56-D859B2C6C9BC}"/>
              </a:ext>
            </a:extLst>
          </p:cNvPr>
          <p:cNvSpPr txBox="1"/>
          <p:nvPr/>
        </p:nvSpPr>
        <p:spPr>
          <a:xfrm>
            <a:off x="3626157" y="1718107"/>
            <a:ext cx="49396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Prom.ua (https://prom.ua/)</a:t>
            </a:r>
            <a:endParaRPr lang="uk-UA" sz="2800" b="1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7DC81E1-07FC-486D-BAC6-AEE3684E3ED6}"/>
              </a:ext>
            </a:extLst>
          </p:cNvPr>
          <p:cNvPicPr/>
          <p:nvPr/>
        </p:nvPicPr>
        <p:blipFill rotWithShape="1">
          <a:blip r:embed="rId2"/>
          <a:srcRect l="3496" r="16434"/>
          <a:stretch/>
        </p:blipFill>
        <p:spPr>
          <a:xfrm>
            <a:off x="5804035" y="2329314"/>
            <a:ext cx="6218376" cy="4382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292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2CA40-1F61-4239-81F7-83BF9ABB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41697"/>
            <a:ext cx="7729728" cy="1188720"/>
          </a:xfrm>
        </p:spPr>
        <p:txBody>
          <a:bodyPr/>
          <a:lstStyle/>
          <a:p>
            <a:r>
              <a:rPr lang="uk-UA" dirty="0"/>
              <a:t>Узагальнені недоліки </a:t>
            </a:r>
            <a:br>
              <a:rPr lang="uk-UA" dirty="0"/>
            </a:br>
            <a:r>
              <a:rPr lang="uk-UA" dirty="0"/>
              <a:t>існуючих рішень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AD14F9-F383-486B-8CFD-A4A733C5D0BF}"/>
              </a:ext>
            </a:extLst>
          </p:cNvPr>
          <p:cNvSpPr txBox="1"/>
          <p:nvPr/>
        </p:nvSpPr>
        <p:spPr>
          <a:xfrm>
            <a:off x="824108" y="2274838"/>
            <a:ext cx="104567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Штучна прив’язка до екосистеми провайдера</a:t>
            </a:r>
          </a:p>
          <a:p>
            <a:r>
              <a:rPr lang="uk-UA" sz="3200" dirty="0">
                <a:latin typeface="Times New Roman" panose="02020603050405020304" pitchFamily="18" charset="0"/>
              </a:rPr>
              <a:t>Економічна неефективність у довгостроковій перспективі</a:t>
            </a:r>
          </a:p>
          <a:p>
            <a:r>
              <a:rPr lang="uk-UA" sz="3200" dirty="0">
                <a:latin typeface="Times New Roman" panose="02020603050405020304" pitchFamily="18" charset="0"/>
              </a:rPr>
              <a:t>Покривають лише базовий функціонал</a:t>
            </a:r>
          </a:p>
          <a:p>
            <a:r>
              <a:rPr lang="uk-UA" sz="3200" dirty="0">
                <a:latin typeface="Times New Roman" panose="02020603050405020304" pitchFamily="18" charset="0"/>
              </a:rPr>
              <a:t>Висока технічна вартість, надмірна вага</a:t>
            </a:r>
          </a:p>
          <a:p>
            <a:endParaRPr lang="uk-UA" sz="3200" dirty="0"/>
          </a:p>
        </p:txBody>
      </p:sp>
    </p:spTree>
    <p:extLst>
      <p:ext uri="{BB962C8B-B14F-4D97-AF65-F5344CB8AC3E}">
        <p14:creationId xmlns:p14="http://schemas.microsoft.com/office/powerpoint/2010/main" val="3924865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2CA40-1F61-4239-81F7-83BF9ABB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41697"/>
            <a:ext cx="7729728" cy="1188720"/>
          </a:xfrm>
        </p:spPr>
        <p:txBody>
          <a:bodyPr/>
          <a:lstStyle/>
          <a:p>
            <a:r>
              <a:rPr lang="uk-UA" dirty="0"/>
              <a:t>Постановка задачі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AD14F9-F383-486B-8CFD-A4A733C5D0BF}"/>
              </a:ext>
            </a:extLst>
          </p:cNvPr>
          <p:cNvSpPr txBox="1"/>
          <p:nvPr/>
        </p:nvSpPr>
        <p:spPr>
          <a:xfrm>
            <a:off x="441158" y="1668448"/>
            <a:ext cx="113096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Розробка комплексної </a:t>
            </a:r>
            <a:r>
              <a:rPr lang="uk-UA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вебплатформи</a:t>
            </a:r>
            <a:r>
              <a:rPr lang="uk-UA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(інтернет-магазину) для підтримки діяльності приватної електронної комерції у сфері роздрібної торгівлі.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47B528-7A34-4B72-B74A-3935087FF41E}"/>
              </a:ext>
            </a:extLst>
          </p:cNvPr>
          <p:cNvSpPr txBox="1"/>
          <p:nvPr/>
        </p:nvSpPr>
        <p:spPr>
          <a:xfrm>
            <a:off x="237503" y="3590768"/>
            <a:ext cx="3987265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ЦІЛІ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dirty="0" err="1"/>
              <a:t>Презентація</a:t>
            </a:r>
            <a:r>
              <a:rPr lang="ru-RU" dirty="0"/>
              <a:t> товарного </a:t>
            </a:r>
            <a:r>
              <a:rPr lang="ru-RU" dirty="0" err="1"/>
              <a:t>асортименту</a:t>
            </a:r>
            <a:r>
              <a:rPr lang="ru-RU" dirty="0"/>
              <a:t>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dirty="0" err="1"/>
              <a:t>Комунікація</a:t>
            </a:r>
            <a:r>
              <a:rPr lang="ru-RU" dirty="0"/>
              <a:t> з </a:t>
            </a:r>
            <a:r>
              <a:rPr lang="ru-RU" dirty="0" err="1"/>
              <a:t>клієнтами</a:t>
            </a:r>
            <a:r>
              <a:rPr lang="ru-RU" dirty="0"/>
              <a:t>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dirty="0" err="1"/>
              <a:t>Оформлення</a:t>
            </a:r>
            <a:r>
              <a:rPr lang="ru-RU" dirty="0"/>
              <a:t> </a:t>
            </a:r>
            <a:r>
              <a:rPr lang="ru-RU" dirty="0" err="1"/>
              <a:t>замовлень</a:t>
            </a:r>
            <a:r>
              <a:rPr lang="ru-RU" dirty="0"/>
              <a:t>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dirty="0" err="1"/>
              <a:t>Автоматизація</a:t>
            </a:r>
            <a:r>
              <a:rPr lang="ru-RU" dirty="0"/>
              <a:t> </a:t>
            </a:r>
            <a:r>
              <a:rPr lang="ru-RU" dirty="0" err="1"/>
              <a:t>обліку</a:t>
            </a:r>
            <a:r>
              <a:rPr lang="ru-RU" dirty="0"/>
              <a:t> </a:t>
            </a:r>
            <a:r>
              <a:rPr lang="ru-RU" dirty="0" err="1"/>
              <a:t>товарних</a:t>
            </a:r>
            <a:r>
              <a:rPr lang="ru-RU" dirty="0"/>
              <a:t> </a:t>
            </a:r>
            <a:r>
              <a:rPr lang="ru-RU" dirty="0" err="1"/>
              <a:t>залишків</a:t>
            </a:r>
            <a:r>
              <a:rPr lang="ru-RU" dirty="0"/>
              <a:t> та </a:t>
            </a:r>
            <a:r>
              <a:rPr lang="ru-RU" dirty="0" err="1"/>
              <a:t>формування</a:t>
            </a:r>
            <a:r>
              <a:rPr lang="ru-RU" dirty="0"/>
              <a:t> </a:t>
            </a:r>
            <a:r>
              <a:rPr lang="ru-RU" dirty="0" err="1"/>
              <a:t>базової</a:t>
            </a:r>
            <a:r>
              <a:rPr lang="ru-RU" dirty="0"/>
              <a:t> </a:t>
            </a:r>
            <a:r>
              <a:rPr lang="ru-RU" dirty="0" err="1"/>
              <a:t>аналітики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A2DD77-E2E2-4FAE-A12D-C5A4659D0846}"/>
              </a:ext>
            </a:extLst>
          </p:cNvPr>
          <p:cNvSpPr txBox="1"/>
          <p:nvPr/>
        </p:nvSpPr>
        <p:spPr>
          <a:xfrm>
            <a:off x="4102369" y="3574173"/>
            <a:ext cx="3987265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ЗАВДАННЯ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dirty="0" err="1"/>
              <a:t>Зручний</a:t>
            </a:r>
            <a:r>
              <a:rPr lang="ru-RU" dirty="0"/>
              <a:t> та </a:t>
            </a:r>
            <a:r>
              <a:rPr lang="ru-RU" dirty="0" err="1"/>
              <a:t>зрозумілий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endParaRPr lang="ru-RU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dirty="0" err="1"/>
              <a:t>Механізм</a:t>
            </a:r>
            <a:r>
              <a:rPr lang="ru-RU" dirty="0"/>
              <a:t> </a:t>
            </a:r>
            <a:r>
              <a:rPr lang="ru-RU" dirty="0" err="1"/>
              <a:t>зберігання</a:t>
            </a:r>
            <a:r>
              <a:rPr lang="ru-RU" dirty="0"/>
              <a:t> та </a:t>
            </a:r>
            <a:r>
              <a:rPr lang="ru-RU" dirty="0" err="1"/>
              <a:t>обміну</a:t>
            </a:r>
            <a:r>
              <a:rPr lang="ru-RU" dirty="0"/>
              <a:t> </a:t>
            </a:r>
            <a:r>
              <a:rPr lang="ru-RU" dirty="0" err="1"/>
              <a:t>даними</a:t>
            </a:r>
            <a:endParaRPr lang="ru-RU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dirty="0" err="1"/>
              <a:t>Безпека</a:t>
            </a:r>
            <a:r>
              <a:rPr lang="ru-RU" dirty="0"/>
              <a:t> </a:t>
            </a:r>
            <a:r>
              <a:rPr lang="ru-RU" dirty="0" err="1"/>
              <a:t>користувачів</a:t>
            </a:r>
            <a:endParaRPr lang="ru-RU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dirty="0" err="1"/>
              <a:t>Адміністративне</a:t>
            </a:r>
            <a:r>
              <a:rPr lang="ru-RU" dirty="0"/>
              <a:t> </a:t>
            </a:r>
            <a:r>
              <a:rPr lang="ru-RU" dirty="0" err="1"/>
              <a:t>управління</a:t>
            </a:r>
            <a:r>
              <a:rPr lang="ru-RU" dirty="0"/>
              <a:t> товарами, </a:t>
            </a:r>
            <a:r>
              <a:rPr lang="ru-RU" dirty="0" err="1"/>
              <a:t>замовленнями</a:t>
            </a:r>
            <a:r>
              <a:rPr lang="ru-RU" dirty="0"/>
              <a:t> та </a:t>
            </a:r>
            <a:r>
              <a:rPr lang="ru-RU" dirty="0" err="1"/>
              <a:t>користувацькими</a:t>
            </a:r>
            <a:r>
              <a:rPr lang="ru-RU" dirty="0"/>
              <a:t> </a:t>
            </a:r>
            <a:r>
              <a:rPr lang="ru-RU" dirty="0" err="1"/>
              <a:t>акаунтами</a:t>
            </a:r>
            <a:r>
              <a:rPr lang="ru-RU" dirty="0"/>
              <a:t>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C12CCC-60A1-4C1D-B1CF-2D5EBDBF6B20}"/>
              </a:ext>
            </a:extLst>
          </p:cNvPr>
          <p:cNvSpPr txBox="1"/>
          <p:nvPr/>
        </p:nvSpPr>
        <p:spPr>
          <a:xfrm>
            <a:off x="7967234" y="3574173"/>
            <a:ext cx="3987265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ПЕРЕВАГИ НАД АНАЛОГАМИ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dirty="0" err="1"/>
              <a:t>Зручний</a:t>
            </a:r>
            <a:r>
              <a:rPr lang="ru-RU" dirty="0"/>
              <a:t> та </a:t>
            </a:r>
            <a:r>
              <a:rPr lang="ru-RU" dirty="0" err="1"/>
              <a:t>зрозумілий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endParaRPr lang="ru-RU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dirty="0"/>
              <a:t>Простота </a:t>
            </a:r>
            <a:r>
              <a:rPr lang="ru-RU" dirty="0" err="1"/>
              <a:t>використання</a:t>
            </a:r>
            <a:r>
              <a:rPr lang="ru-RU" dirty="0"/>
              <a:t> та </a:t>
            </a:r>
            <a:r>
              <a:rPr lang="ru-RU" dirty="0" err="1"/>
              <a:t>налаштування</a:t>
            </a:r>
            <a:endParaRPr lang="ru-RU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dirty="0" err="1"/>
              <a:t>Легковаговий</a:t>
            </a:r>
            <a:r>
              <a:rPr lang="ru-RU" dirty="0"/>
              <a:t> </a:t>
            </a:r>
            <a:r>
              <a:rPr lang="ru-RU" dirty="0" err="1"/>
              <a:t>продект</a:t>
            </a:r>
            <a:endParaRPr lang="ru-RU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dirty="0" err="1"/>
              <a:t>Доступний</a:t>
            </a:r>
            <a:r>
              <a:rPr lang="ru-RU" dirty="0"/>
              <a:t> для </a:t>
            </a:r>
            <a:r>
              <a:rPr lang="ru-RU" dirty="0" err="1"/>
              <a:t>використання</a:t>
            </a:r>
            <a:r>
              <a:rPr lang="ru-RU" dirty="0"/>
              <a:t> у будь-</a:t>
            </a:r>
            <a:r>
              <a:rPr lang="ru-RU" dirty="0" err="1"/>
              <a:t>якій</a:t>
            </a:r>
            <a:r>
              <a:rPr lang="ru-RU" dirty="0"/>
              <a:t> </a:t>
            </a:r>
            <a:r>
              <a:rPr lang="ru-RU" dirty="0" err="1"/>
              <a:t>сфері</a:t>
            </a:r>
            <a:endParaRPr lang="ru-RU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dirty="0"/>
              <a:t>Простота </a:t>
            </a:r>
            <a:r>
              <a:rPr lang="ru-RU" dirty="0" err="1"/>
              <a:t>міграції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8638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2CA40-1F61-4239-81F7-83BF9ABB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41697"/>
            <a:ext cx="7729728" cy="1188720"/>
          </a:xfrm>
        </p:spPr>
        <p:txBody>
          <a:bodyPr/>
          <a:lstStyle/>
          <a:p>
            <a:r>
              <a:rPr lang="uk-UA" dirty="0"/>
              <a:t>Проектування </a:t>
            </a:r>
            <a:r>
              <a:rPr lang="uk-UA" dirty="0" err="1"/>
              <a:t>пз</a:t>
            </a:r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32AC494-E3CC-42C5-A6FC-EBE3BF37D5C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" y="1585595"/>
            <a:ext cx="4075417" cy="527240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CD4FB4-CCCA-443B-8D00-C2A3501DA4F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613" y="1585595"/>
            <a:ext cx="4225490" cy="398399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FA3A440-42EA-4226-8978-32CA87EDE2C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99" y="1585595"/>
            <a:ext cx="3802701" cy="372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931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2CA40-1F61-4239-81F7-83BF9ABB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41697"/>
            <a:ext cx="7729728" cy="1188720"/>
          </a:xfrm>
        </p:spPr>
        <p:txBody>
          <a:bodyPr/>
          <a:lstStyle/>
          <a:p>
            <a:r>
              <a:rPr lang="uk-UA" dirty="0"/>
              <a:t>Проектування </a:t>
            </a:r>
            <a:r>
              <a:rPr lang="uk-UA" dirty="0" err="1"/>
              <a:t>пз</a:t>
            </a:r>
            <a:endParaRPr lang="uk-UA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996B8E-29C1-4B57-A513-B3AF50698AA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019" y="2099511"/>
            <a:ext cx="9177962" cy="418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778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2CA40-1F61-4239-81F7-83BF9ABB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41697"/>
            <a:ext cx="7729728" cy="1188720"/>
          </a:xfrm>
        </p:spPr>
        <p:txBody>
          <a:bodyPr/>
          <a:lstStyle/>
          <a:p>
            <a:r>
              <a:rPr lang="uk-UA" dirty="0"/>
              <a:t>Проектування </a:t>
            </a:r>
            <a:r>
              <a:rPr lang="uk-UA" dirty="0" err="1"/>
              <a:t>пз</a:t>
            </a:r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3E8B569-83DC-4807-AECF-579280577A7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231136" y="1848051"/>
            <a:ext cx="7729728" cy="50099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A4A547-DA9B-4A7C-81C6-9896B96F8A80}"/>
              </a:ext>
            </a:extLst>
          </p:cNvPr>
          <p:cNvSpPr txBox="1"/>
          <p:nvPr/>
        </p:nvSpPr>
        <p:spPr>
          <a:xfrm>
            <a:off x="5637998" y="1504568"/>
            <a:ext cx="1417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Модель БД 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68767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2CA40-1F61-4239-81F7-83BF9ABB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41697"/>
            <a:ext cx="7729728" cy="1188720"/>
          </a:xfrm>
        </p:spPr>
        <p:txBody>
          <a:bodyPr/>
          <a:lstStyle/>
          <a:p>
            <a:r>
              <a:rPr lang="uk-UA" dirty="0"/>
              <a:t>розробка </a:t>
            </a:r>
            <a:r>
              <a:rPr lang="uk-UA" dirty="0" err="1"/>
              <a:t>пз</a:t>
            </a:r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7D55450-8021-411B-B05D-1663FAB9A2B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8662" y="2906010"/>
            <a:ext cx="5731510" cy="27400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030D4B-B397-4440-9CFF-58855D12C96B}"/>
              </a:ext>
            </a:extLst>
          </p:cNvPr>
          <p:cNvSpPr txBox="1"/>
          <p:nvPr/>
        </p:nvSpPr>
        <p:spPr>
          <a:xfrm>
            <a:off x="1922646" y="2303464"/>
            <a:ext cx="2100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Модуль авторизації </a:t>
            </a:r>
            <a:endParaRPr lang="uk-UA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0BBDB46-AC0E-4376-B2CC-A6221AA00F2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618972" y="1896176"/>
            <a:ext cx="5384366" cy="47807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167DF2-7883-4F76-ACF9-77C132A65DEA}"/>
              </a:ext>
            </a:extLst>
          </p:cNvPr>
          <p:cNvSpPr txBox="1"/>
          <p:nvPr/>
        </p:nvSpPr>
        <p:spPr>
          <a:xfrm>
            <a:off x="8260798" y="1526844"/>
            <a:ext cx="2971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Валідація</a:t>
            </a:r>
            <a:r>
              <a:rPr lang="uk-U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кількості товару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104969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2CA40-1F61-4239-81F7-83BF9ABB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41697"/>
            <a:ext cx="7729728" cy="1188720"/>
          </a:xfrm>
        </p:spPr>
        <p:txBody>
          <a:bodyPr/>
          <a:lstStyle/>
          <a:p>
            <a:r>
              <a:rPr lang="uk-UA" dirty="0"/>
              <a:t>Робота з </a:t>
            </a:r>
            <a:r>
              <a:rPr lang="en-US" dirty="0" err="1"/>
              <a:t>techshop</a:t>
            </a:r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A8892FA-CA33-4D6B-8151-20AEB4A55157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83"/>
          <a:stretch/>
        </p:blipFill>
        <p:spPr bwMode="auto">
          <a:xfrm>
            <a:off x="1309036" y="2164714"/>
            <a:ext cx="9750391" cy="428421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33F27D-ECD7-4D1B-8AD1-496A6850C72C}"/>
              </a:ext>
            </a:extLst>
          </p:cNvPr>
          <p:cNvSpPr txBox="1"/>
          <p:nvPr/>
        </p:nvSpPr>
        <p:spPr>
          <a:xfrm>
            <a:off x="5283065" y="1662899"/>
            <a:ext cx="18023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Головний екран 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31474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2CA40-1F61-4239-81F7-83BF9ABB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41697"/>
            <a:ext cx="7729728" cy="1188720"/>
          </a:xfrm>
        </p:spPr>
        <p:txBody>
          <a:bodyPr/>
          <a:lstStyle/>
          <a:p>
            <a:r>
              <a:rPr lang="uk-UA" dirty="0"/>
              <a:t>Робота з </a:t>
            </a:r>
            <a:r>
              <a:rPr lang="en-US" dirty="0" err="1"/>
              <a:t>techshop</a:t>
            </a:r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33F27D-ECD7-4D1B-8AD1-496A6850C72C}"/>
              </a:ext>
            </a:extLst>
          </p:cNvPr>
          <p:cNvSpPr txBox="1"/>
          <p:nvPr/>
        </p:nvSpPr>
        <p:spPr>
          <a:xfrm>
            <a:off x="2048976" y="2192288"/>
            <a:ext cx="18023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Реєстрація</a:t>
            </a:r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35E8CC2-5D3D-40A3-AB6D-43A906DDD305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90"/>
          <a:stretch/>
        </p:blipFill>
        <p:spPr bwMode="auto">
          <a:xfrm>
            <a:off x="388268" y="2714462"/>
            <a:ext cx="5313045" cy="269113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652A6B3-21AD-4344-B1AC-2F92FC74533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3387" y="2714462"/>
            <a:ext cx="5300345" cy="26911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CD796C-6C19-4BB3-9543-BA34730030E5}"/>
              </a:ext>
            </a:extLst>
          </p:cNvPr>
          <p:cNvSpPr txBox="1"/>
          <p:nvPr/>
        </p:nvSpPr>
        <p:spPr>
          <a:xfrm>
            <a:off x="8477047" y="2192288"/>
            <a:ext cx="18023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Авторизація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532343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2CA40-1F61-4239-81F7-83BF9ABB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41697"/>
            <a:ext cx="7729728" cy="1188720"/>
          </a:xfrm>
        </p:spPr>
        <p:txBody>
          <a:bodyPr/>
          <a:lstStyle/>
          <a:p>
            <a:r>
              <a:rPr lang="uk-UA" dirty="0"/>
              <a:t>Робота з </a:t>
            </a:r>
            <a:r>
              <a:rPr lang="en-US" dirty="0" err="1"/>
              <a:t>techshop</a:t>
            </a:r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33F27D-ECD7-4D1B-8AD1-496A6850C72C}"/>
              </a:ext>
            </a:extLst>
          </p:cNvPr>
          <p:cNvSpPr txBox="1"/>
          <p:nvPr/>
        </p:nvSpPr>
        <p:spPr>
          <a:xfrm>
            <a:off x="1376414" y="2192288"/>
            <a:ext cx="3272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Оформлення замовлення</a:t>
            </a:r>
            <a:endParaRPr lang="uk-U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CD796C-6C19-4BB3-9543-BA34730030E5}"/>
              </a:ext>
            </a:extLst>
          </p:cNvPr>
          <p:cNvSpPr txBox="1"/>
          <p:nvPr/>
        </p:nvSpPr>
        <p:spPr>
          <a:xfrm>
            <a:off x="8477047" y="2192288"/>
            <a:ext cx="1927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Адміністрування</a:t>
            </a:r>
            <a:endParaRPr lang="uk-UA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E50A75A-53F6-4A9F-806D-9509F7C5586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38262" y="2714462"/>
            <a:ext cx="5648325" cy="346265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A16E780-DB9F-4738-A9CE-8073EBE5CA1E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4588"/>
          <a:stretch/>
        </p:blipFill>
        <p:spPr bwMode="auto">
          <a:xfrm>
            <a:off x="6434421" y="2714461"/>
            <a:ext cx="5656580" cy="34626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59290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2CA40-1F61-4239-81F7-83BF9ABB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41697"/>
            <a:ext cx="7729728" cy="1188720"/>
          </a:xfrm>
        </p:spPr>
        <p:txBody>
          <a:bodyPr/>
          <a:lstStyle/>
          <a:p>
            <a:r>
              <a:rPr lang="uk-UA" dirty="0"/>
              <a:t>ТЕСТУВАННЯ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B7CBAA-04B3-42BB-9501-A63042ED2D5D}"/>
              </a:ext>
            </a:extLst>
          </p:cNvPr>
          <p:cNvSpPr txBox="1"/>
          <p:nvPr/>
        </p:nvSpPr>
        <p:spPr>
          <a:xfrm>
            <a:off x="372979" y="1784048"/>
            <a:ext cx="609760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Функціональне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тестування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модулів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системи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Тестування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модуля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автентифікації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Тестування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каталогу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товарів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та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фільтрації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  <a:t>3 Тестування кошику та оформлення замовлення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9030F7-9A57-47BF-AF75-F8801AB63E71}"/>
              </a:ext>
            </a:extLst>
          </p:cNvPr>
          <p:cNvSpPr txBox="1"/>
          <p:nvPr/>
        </p:nvSpPr>
        <p:spPr>
          <a:xfrm>
            <a:off x="5943199" y="1334066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  <a:p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Тестування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захисту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від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несанкціонованого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доступу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33113CCE-11BA-49BA-A9A3-4E65F010B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661313"/>
              </p:ext>
            </p:extLst>
          </p:nvPr>
        </p:nvGraphicFramePr>
        <p:xfrm>
          <a:off x="6096000" y="2047774"/>
          <a:ext cx="5944803" cy="46116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99552">
                  <a:extLst>
                    <a:ext uri="{9D8B030D-6E8A-4147-A177-3AD203B41FA5}">
                      <a16:colId xmlns:a16="http://schemas.microsoft.com/office/drawing/2014/main" val="2062562397"/>
                    </a:ext>
                  </a:extLst>
                </a:gridCol>
                <a:gridCol w="4545251">
                  <a:extLst>
                    <a:ext uri="{9D8B030D-6E8A-4147-A177-3AD203B41FA5}">
                      <a16:colId xmlns:a16="http://schemas.microsoft.com/office/drawing/2014/main" val="3481692887"/>
                    </a:ext>
                  </a:extLst>
                </a:gridCol>
              </a:tblGrid>
              <a:tr h="46636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uk-UA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 тест-кейсу</a:t>
                      </a:r>
                    </a:p>
                  </a:txBody>
                  <a:tcPr marL="40824" marR="40824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600" dirty="0">
                          <a:effectLst/>
                        </a:rPr>
                        <a:t>TC-ADMIN-01</a:t>
                      </a:r>
                      <a:endParaRPr lang="uk-UA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824" marR="40824" marT="0" marB="0"/>
                </a:tc>
                <a:extLst>
                  <a:ext uri="{0D108BD9-81ED-4DB2-BD59-A6C34878D82A}">
                    <a16:rowId xmlns:a16="http://schemas.microsoft.com/office/drawing/2014/main" val="4091086812"/>
                  </a:ext>
                </a:extLst>
              </a:tr>
              <a:tr h="46636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uk-UA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Назва</a:t>
                      </a:r>
                    </a:p>
                  </a:txBody>
                  <a:tcPr marL="40824" marR="40824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600" dirty="0">
                          <a:effectLst/>
                        </a:rPr>
                        <a:t>Спроба несанкціонованого доступу до панелі адміністратора</a:t>
                      </a:r>
                      <a:endParaRPr lang="uk-UA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824" marR="40824" marT="0" marB="0"/>
                </a:tc>
                <a:extLst>
                  <a:ext uri="{0D108BD9-81ED-4DB2-BD59-A6C34878D82A}">
                    <a16:rowId xmlns:a16="http://schemas.microsoft.com/office/drawing/2014/main" val="2217034977"/>
                  </a:ext>
                </a:extLst>
              </a:tr>
              <a:tr h="466364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Мета</a:t>
                      </a:r>
                    </a:p>
                  </a:txBody>
                  <a:tcPr marL="40824" marR="40824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600" dirty="0">
                          <a:effectLst/>
                        </a:rPr>
                        <a:t>Перевірити надійність маршрутизації (</a:t>
                      </a:r>
                      <a:r>
                        <a:rPr lang="uk-UA" sz="1600" dirty="0" err="1">
                          <a:effectLst/>
                        </a:rPr>
                        <a:t>routing</a:t>
                      </a:r>
                      <a:r>
                        <a:rPr lang="uk-UA" sz="1600" dirty="0">
                          <a:effectLst/>
                        </a:rPr>
                        <a:t>) та механізмів контролю доступу (Access </a:t>
                      </a:r>
                      <a:r>
                        <a:rPr lang="uk-UA" sz="1600" dirty="0" err="1">
                          <a:effectLst/>
                        </a:rPr>
                        <a:t>Control</a:t>
                      </a:r>
                      <a:r>
                        <a:rPr lang="uk-UA" sz="1600" dirty="0">
                          <a:effectLst/>
                        </a:rPr>
                        <a:t>).</a:t>
                      </a:r>
                      <a:endParaRPr lang="uk-UA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824" marR="40824" marT="0" marB="0"/>
                </a:tc>
                <a:extLst>
                  <a:ext uri="{0D108BD9-81ED-4DB2-BD59-A6C34878D82A}">
                    <a16:rowId xmlns:a16="http://schemas.microsoft.com/office/drawing/2014/main" val="3410346746"/>
                  </a:ext>
                </a:extLst>
              </a:tr>
              <a:tr h="466364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Передумови</a:t>
                      </a:r>
                    </a:p>
                  </a:txBody>
                  <a:tcPr marL="40824" marR="40824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600" dirty="0">
                          <a:effectLst/>
                        </a:rPr>
                        <a:t>Користувач авторизований у системі під звичайним обліковим записом клієнта (</a:t>
                      </a:r>
                      <a:r>
                        <a:rPr lang="uk-UA" sz="1600" dirty="0" err="1">
                          <a:effectLst/>
                        </a:rPr>
                        <a:t>is_admin</a:t>
                      </a:r>
                      <a:r>
                        <a:rPr lang="uk-UA" sz="1600" dirty="0">
                          <a:effectLst/>
                        </a:rPr>
                        <a:t> = </a:t>
                      </a:r>
                      <a:r>
                        <a:rPr lang="uk-UA" sz="1600" dirty="0" err="1">
                          <a:effectLst/>
                        </a:rPr>
                        <a:t>False</a:t>
                      </a:r>
                      <a:r>
                        <a:rPr lang="uk-UA" sz="1600" dirty="0">
                          <a:effectLst/>
                        </a:rPr>
                        <a:t>)</a:t>
                      </a:r>
                      <a:endParaRPr lang="uk-UA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824" marR="40824" marT="0" marB="0"/>
                </a:tc>
                <a:extLst>
                  <a:ext uri="{0D108BD9-81ED-4DB2-BD59-A6C34878D82A}">
                    <a16:rowId xmlns:a16="http://schemas.microsoft.com/office/drawing/2014/main" val="1712938963"/>
                  </a:ext>
                </a:extLst>
              </a:tr>
              <a:tr h="1210421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Кроки тестування</a:t>
                      </a:r>
                    </a:p>
                  </a:txBody>
                  <a:tcPr marL="40824" marR="40824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600" dirty="0">
                          <a:effectLst/>
                        </a:rPr>
                        <a:t>1. Відкрити браузер.</a:t>
                      </a:r>
                    </a:p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600" dirty="0">
                          <a:effectLst/>
                        </a:rPr>
                        <a:t>2. Ввести в адресний рядок прямий URL-маршрут до панелі адміністратора (http://localhost/admin або http://localhost/admin/users).</a:t>
                      </a:r>
                    </a:p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600" dirty="0">
                          <a:effectLst/>
                        </a:rPr>
                        <a:t>3. Натиснути </a:t>
                      </a:r>
                      <a:r>
                        <a:rPr lang="uk-UA" sz="1600" dirty="0" err="1">
                          <a:effectLst/>
                        </a:rPr>
                        <a:t>Enter</a:t>
                      </a:r>
                      <a:r>
                        <a:rPr lang="uk-UA" sz="1600" dirty="0">
                          <a:effectLst/>
                        </a:rPr>
                        <a:t>.</a:t>
                      </a:r>
                      <a:endParaRPr lang="uk-UA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824" marR="40824" marT="0" marB="0"/>
                </a:tc>
                <a:extLst>
                  <a:ext uri="{0D108BD9-81ED-4DB2-BD59-A6C34878D82A}">
                    <a16:rowId xmlns:a16="http://schemas.microsoft.com/office/drawing/2014/main" val="1759492289"/>
                  </a:ext>
                </a:extLst>
              </a:tr>
              <a:tr h="962402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Очікуваний результат</a:t>
                      </a:r>
                    </a:p>
                  </a:txBody>
                  <a:tcPr marL="40824" marR="40824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600" dirty="0">
                          <a:effectLst/>
                        </a:rPr>
                        <a:t>Система блокує запит. Сервер повертає HTTP-статус 403 (</a:t>
                      </a:r>
                      <a:r>
                        <a:rPr lang="uk-UA" sz="1600" dirty="0" err="1">
                          <a:effectLst/>
                        </a:rPr>
                        <a:t>Forbidden</a:t>
                      </a:r>
                      <a:r>
                        <a:rPr lang="uk-UA" sz="1600" dirty="0">
                          <a:effectLst/>
                        </a:rPr>
                        <a:t>) або автоматично перенаправляє користувача на головну сторінку (/</a:t>
                      </a:r>
                      <a:r>
                        <a:rPr lang="uk-UA" sz="1600" dirty="0" err="1">
                          <a:effectLst/>
                        </a:rPr>
                        <a:t>index</a:t>
                      </a:r>
                      <a:r>
                        <a:rPr lang="uk-UA" sz="1600" dirty="0">
                          <a:effectLst/>
                        </a:rPr>
                        <a:t>) із </a:t>
                      </a:r>
                      <a:r>
                        <a:rPr lang="uk-UA" sz="1600" dirty="0" err="1">
                          <a:effectLst/>
                        </a:rPr>
                        <a:t>flash</a:t>
                      </a:r>
                      <a:r>
                        <a:rPr lang="uk-UA" sz="1600" dirty="0">
                          <a:effectLst/>
                        </a:rPr>
                        <a:t>-повідомленням: «У вас немає прав для перегляду цієї сторінки».</a:t>
                      </a:r>
                      <a:endParaRPr lang="uk-UA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824" marR="40824" marT="0" marB="0"/>
                </a:tc>
                <a:extLst>
                  <a:ext uri="{0D108BD9-81ED-4DB2-BD59-A6C34878D82A}">
                    <a16:rowId xmlns:a16="http://schemas.microsoft.com/office/drawing/2014/main" val="2554955816"/>
                  </a:ext>
                </a:extLst>
              </a:tr>
            </a:tbl>
          </a:graphicData>
        </a:graphic>
      </p:graphicFrame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57870E0-2236-468B-B084-F94A67107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855638"/>
              </p:ext>
            </p:extLst>
          </p:nvPr>
        </p:nvGraphicFramePr>
        <p:xfrm>
          <a:off x="372979" y="3319396"/>
          <a:ext cx="5402178" cy="326358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8722">
                  <a:extLst>
                    <a:ext uri="{9D8B030D-6E8A-4147-A177-3AD203B41FA5}">
                      <a16:colId xmlns:a16="http://schemas.microsoft.com/office/drawing/2014/main" val="359356888"/>
                    </a:ext>
                  </a:extLst>
                </a:gridCol>
                <a:gridCol w="3412368">
                  <a:extLst>
                    <a:ext uri="{9D8B030D-6E8A-4147-A177-3AD203B41FA5}">
                      <a16:colId xmlns:a16="http://schemas.microsoft.com/office/drawing/2014/main" val="2887383047"/>
                    </a:ext>
                  </a:extLst>
                </a:gridCol>
                <a:gridCol w="776794">
                  <a:extLst>
                    <a:ext uri="{9D8B030D-6E8A-4147-A177-3AD203B41FA5}">
                      <a16:colId xmlns:a16="http://schemas.microsoft.com/office/drawing/2014/main" val="2739181920"/>
                    </a:ext>
                  </a:extLst>
                </a:gridCol>
                <a:gridCol w="834294">
                  <a:extLst>
                    <a:ext uri="{9D8B030D-6E8A-4147-A177-3AD203B41FA5}">
                      <a16:colId xmlns:a16="http://schemas.microsoft.com/office/drawing/2014/main" val="952486702"/>
                    </a:ext>
                  </a:extLst>
                </a:gridCol>
              </a:tblGrid>
              <a:tr h="337506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№</a:t>
                      </a:r>
                      <a:endParaRPr lang="uk-UA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Що перевіряється: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FAIL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extLst>
                  <a:ext uri="{0D108BD9-81ED-4DB2-BD59-A6C34878D82A}">
                    <a16:rowId xmlns:a16="http://schemas.microsoft.com/office/drawing/2014/main" val="810826363"/>
                  </a:ext>
                </a:extLst>
              </a:tr>
              <a:tr h="337506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Перевірити можливість гостя переглядати каталог товарів та їх детальний опис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Так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extLst>
                  <a:ext uri="{0D108BD9-81ED-4DB2-BD59-A6C34878D82A}">
                    <a16:rowId xmlns:a16="http://schemas.microsoft.com/office/drawing/2014/main" val="1072383942"/>
                  </a:ext>
                </a:extLst>
              </a:tr>
              <a:tr h="337506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Перевірити можливість додавання товару до кошика неавторизованим користувачем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Так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extLst>
                  <a:ext uri="{0D108BD9-81ED-4DB2-BD59-A6C34878D82A}">
                    <a16:rowId xmlns:a16="http://schemas.microsoft.com/office/drawing/2014/main" val="3039963209"/>
                  </a:ext>
                </a:extLst>
              </a:tr>
              <a:tr h="696486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Перевірити процес реєстрації: коректна обробка введеного псевдоніму, дійсної електронної пошти та збігу пароля з полем підтвердження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Так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extLst>
                  <a:ext uri="{0D108BD9-81ED-4DB2-BD59-A6C34878D82A}">
                    <a16:rowId xmlns:a16="http://schemas.microsoft.com/office/drawing/2014/main" val="2143096082"/>
                  </a:ext>
                </a:extLst>
              </a:tr>
              <a:tr h="696486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Перевірити валідацію реєстрації: система повинна інформувати про помилку у разі використання вже існуючого в базі нікнейму або email-адреси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Так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extLst>
                  <a:ext uri="{0D108BD9-81ED-4DB2-BD59-A6C34878D82A}">
                    <a16:rowId xmlns:a16="http://schemas.microsoft.com/office/drawing/2014/main" val="3096304388"/>
                  </a:ext>
                </a:extLst>
              </a:tr>
              <a:tr h="696486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Перевірити функцію входу в існуючий акаунт за допомогою нікнейму та пароля з відповідним перенаправленням на головну сторінку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Так</a:t>
                      </a:r>
                      <a:endParaRPr lang="uk-UA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uk-UA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uk-UA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462" marR="38462" marT="0" marB="0"/>
                </a:tc>
                <a:extLst>
                  <a:ext uri="{0D108BD9-81ED-4DB2-BD59-A6C34878D82A}">
                    <a16:rowId xmlns:a16="http://schemas.microsoft.com/office/drawing/2014/main" val="2943549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26702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2CA40-1F61-4239-81F7-83BF9ABB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41697"/>
            <a:ext cx="7729728" cy="1188720"/>
          </a:xfrm>
        </p:spPr>
        <p:txBody>
          <a:bodyPr/>
          <a:lstStyle/>
          <a:p>
            <a:r>
              <a:rPr lang="uk-UA" dirty="0"/>
              <a:t>висновки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B7CBAA-04B3-42BB-9501-A63042ED2D5D}"/>
              </a:ext>
            </a:extLst>
          </p:cNvPr>
          <p:cNvSpPr txBox="1"/>
          <p:nvPr/>
        </p:nvSpPr>
        <p:spPr>
          <a:xfrm>
            <a:off x="372978" y="1784048"/>
            <a:ext cx="1138909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результаті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виконання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кваліфікаційної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роботи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бакалавра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було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спроєктовано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та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розроблено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програмну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систему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інтернет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-магазину «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TechShop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»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для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підтримки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діяльності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малого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бізнесу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сфері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електронної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комерції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Було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визначено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система повинна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складатися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з таких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основних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модулів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реєстрація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та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вхід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користувачів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каталог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товарів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із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можливістю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фільтрації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кошик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система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оформлення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замовлень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та панель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адміністратора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для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управління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складом.</a:t>
            </a:r>
          </a:p>
          <a:p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Під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час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проєктування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було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обрано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клієнт-серверну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архітектуру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Процес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розробки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включав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створення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структури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бази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даних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написання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коду для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обробки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запитів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та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розробку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графічного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інтерфейсу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Тестування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системи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відбувалось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методом «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чорного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ящика». 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підсумку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можна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зазначити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програмна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система «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TechShop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працює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стабільно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та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повністю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готова до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використання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для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підтримки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онлайн-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продажів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DE86F4-6539-4333-AD50-1727EF0AFF6F}"/>
              </a:ext>
            </a:extLst>
          </p:cNvPr>
          <p:cNvSpPr txBox="1"/>
          <p:nvPr/>
        </p:nvSpPr>
        <p:spPr>
          <a:xfrm>
            <a:off x="4400670" y="5993083"/>
            <a:ext cx="33906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800" b="1" dirty="0"/>
              <a:t>ДЯКУЮ ЗА УВАГУ!</a:t>
            </a:r>
          </a:p>
        </p:txBody>
      </p:sp>
    </p:spTree>
    <p:extLst>
      <p:ext uri="{BB962C8B-B14F-4D97-AF65-F5344CB8AC3E}">
        <p14:creationId xmlns:p14="http://schemas.microsoft.com/office/powerpoint/2010/main" val="1866314306"/>
      </p:ext>
    </p:extLst>
  </p:cSld>
  <p:clrMapOvr>
    <a:masterClrMapping/>
  </p:clrMapOvr>
</p:sld>
</file>

<file path=ppt/theme/theme1.xml><?xml version="1.0" encoding="utf-8"?>
<a:theme xmlns:a="http://schemas.openxmlformats.org/drawingml/2006/main" name="Посылка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{BAE8A189-4447-46F7-926A-3235DDF71D8F}TFfb9a325e-b4a8-473d-b025-df086f5ae493f5a90170-b053b8ef8758</Template>
  <TotalTime>86</TotalTime>
  <Words>815</Words>
  <Application>Microsoft Office PowerPoint</Application>
  <PresentationFormat>Широкоэкранный</PresentationFormat>
  <Paragraphs>148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Corbel</vt:lpstr>
      <vt:lpstr>Gill Sans MT</vt:lpstr>
      <vt:lpstr>Times New Roman</vt:lpstr>
      <vt:lpstr>Посылка</vt:lpstr>
      <vt:lpstr>Програмна платформа для підтримки діяльності приватної електронної комерції</vt:lpstr>
      <vt:lpstr>Мета роботи</vt:lpstr>
      <vt:lpstr>Актуальність проблеми</vt:lpstr>
      <vt:lpstr>Огляд існуючих рішень</vt:lpstr>
      <vt:lpstr>Огляд існуючих рішень</vt:lpstr>
      <vt:lpstr>Огляд існуючих рішень</vt:lpstr>
      <vt:lpstr>Узагальнені недоліки  існуючих рішень</vt:lpstr>
      <vt:lpstr>Постановка задачі</vt:lpstr>
      <vt:lpstr>Проектування пз</vt:lpstr>
      <vt:lpstr>Проектування пз</vt:lpstr>
      <vt:lpstr>Проектування пз</vt:lpstr>
      <vt:lpstr>розробка пз</vt:lpstr>
      <vt:lpstr>Робота з techshop</vt:lpstr>
      <vt:lpstr>Робота з techshop</vt:lpstr>
      <vt:lpstr>Робота з techshop</vt:lpstr>
      <vt:lpstr>ТЕСТУВАННЯ</vt:lpstr>
      <vt:lpstr>висновки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Програмна платформа для підтримки діяльності приватної електронної комерції</dc:title>
  <dc:creator>Lanovyy Oleksiy</dc:creator>
  <cp:lastModifiedBy>Lanovyy Oleksiy</cp:lastModifiedBy>
  <cp:revision>10</cp:revision>
  <dcterms:created xsi:type="dcterms:W3CDTF">2026-06-30T04:01:19Z</dcterms:created>
  <dcterms:modified xsi:type="dcterms:W3CDTF">2026-07-02T07:30:19Z</dcterms:modified>
</cp:coreProperties>
</file>